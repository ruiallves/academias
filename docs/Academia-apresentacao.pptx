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9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2084831"/>
            <a:ext cx="566928" cy="566928"/>
          </a:xfrm>
          <a:prstGeom prst="roundRect">
            <a:avLst>
              <a:gd name="adj" fmla="val 4500"/>
            </a:avLst>
          </a:prstGeom>
          <a:solidFill>
            <a:srgbClr val="0F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2400">
                <a:solidFill>
                  <a:srgbClr val="FFFFFF"/>
                </a:solidFill>
                <a:latin typeface="Segoe UI Semibold"/>
              </a:defRPr>
            </a:pPr>
            <a:r>
              <a:t>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96926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00">
                <a:solidFill>
                  <a:srgbClr val="FFFFFF"/>
                </a:solidFill>
                <a:latin typeface="Segoe UI Semibold"/>
              </a:defRPr>
            </a:pPr>
            <a:r>
              <a:t>Academia</a:t>
            </a:r>
          </a:p>
          <a:p>
            <a:pPr>
              <a:spcBef>
                <a:spcPts val="1400"/>
              </a:spcBef>
              <a:spcAft>
                <a:spcPts val="0"/>
              </a:spcAft>
              <a:defRPr sz="2600">
                <a:solidFill>
                  <a:srgbClr val="C9C4B8"/>
                </a:solidFill>
                <a:latin typeface="Segoe UI"/>
              </a:defRPr>
            </a:pPr>
            <a:r>
              <a:t>O sistema operativo do teu clube.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394960"/>
            <a:ext cx="2011680" cy="9525"/>
          </a:xfrm>
          <a:prstGeom prst="rect">
            <a:avLst/>
          </a:prstGeom>
          <a:solidFill>
            <a:srgbClr val="3A3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650992"/>
            <a:ext cx="103628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8A867C"/>
                </a:solidFill>
                <a:latin typeface="Segoe UI"/>
              </a:defRPr>
            </a:pPr>
            <a:r>
              <a:t>Multi-desporto  ·  Multi-clube  ·  À cor do teu emblema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58368"/>
            <a:ext cx="103628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0F6B62"/>
                </a:solidFill>
                <a:latin typeface="Segoe UI Semibold"/>
              </a:defRPr>
            </a:pPr>
            <a:r>
              <a:t>O PONTO DE PARTIDA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24128"/>
            <a:ext cx="932688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3800">
                <a:solidFill>
                  <a:srgbClr val="1A1917"/>
                </a:solidFill>
                <a:latin typeface="Segoe UI Semibold"/>
              </a:defRPr>
            </a:pPr>
            <a:r>
              <a:t>Hoje o clube corre em WhatsApp,</a:t>
            </a:r>
            <a:br/>
            <a:r>
              <a:t>Excel e memória.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246120"/>
            <a:ext cx="3200400" cy="19050"/>
          </a:xfrm>
          <a:prstGeom prst="rect">
            <a:avLst/>
          </a:prstGeom>
          <a:solidFill>
            <a:srgbClr val="0F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493008"/>
            <a:ext cx="32004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900">
                <a:solidFill>
                  <a:srgbClr val="1A1917"/>
                </a:solidFill>
                <a:latin typeface="Segoe UI Semibold"/>
              </a:defRPr>
            </a:pPr>
            <a:r>
              <a:t>A mensalidade</a:t>
            </a:r>
          </a:p>
          <a:p>
            <a:pPr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defRPr sz="1400">
                <a:solidFill>
                  <a:srgbClr val="524F48"/>
                </a:solidFill>
                <a:latin typeface="Segoe UI"/>
              </a:defRPr>
            </a:pPr>
            <a:r>
              <a:t>Alguém tem de abrir o banco, procurar a transferência e riscar um nome numa folha.</a:t>
            </a:r>
          </a:p>
        </p:txBody>
      </p:sp>
      <p:sp>
        <p:nvSpPr>
          <p:cNvPr id="6" name="Rectangle 5"/>
          <p:cNvSpPr/>
          <p:nvPr/>
        </p:nvSpPr>
        <p:spPr>
          <a:xfrm>
            <a:off x="4498848" y="3246120"/>
            <a:ext cx="3200400" cy="19050"/>
          </a:xfrm>
          <a:prstGeom prst="rect">
            <a:avLst/>
          </a:prstGeom>
          <a:solidFill>
            <a:srgbClr val="0F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98848" y="3493008"/>
            <a:ext cx="32004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900">
                <a:solidFill>
                  <a:srgbClr val="1A1917"/>
                </a:solidFill>
                <a:latin typeface="Segoe UI Semibold"/>
              </a:defRPr>
            </a:pPr>
            <a:r>
              <a:t>A convocatória</a:t>
            </a:r>
          </a:p>
          <a:p>
            <a:pPr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defRPr sz="1400">
                <a:solidFill>
                  <a:srgbClr val="524F48"/>
                </a:solidFill>
                <a:latin typeface="Segoe UI"/>
              </a:defRPr>
            </a:pPr>
            <a:r>
              <a:t>Num grupo com sessenta pessoas, onde a lista se perde entre fotografias.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083296" y="3246120"/>
            <a:ext cx="3200400" cy="19050"/>
          </a:xfrm>
          <a:prstGeom prst="rect">
            <a:avLst/>
          </a:prstGeom>
          <a:solidFill>
            <a:srgbClr val="0F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83296" y="3493008"/>
            <a:ext cx="32004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900">
                <a:solidFill>
                  <a:srgbClr val="1A1917"/>
                </a:solidFill>
                <a:latin typeface="Segoe UI Semibold"/>
              </a:defRPr>
            </a:pPr>
            <a:r>
              <a:t>O treinador que sai</a:t>
            </a:r>
          </a:p>
          <a:p>
            <a:pPr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defRPr sz="1400">
                <a:solidFill>
                  <a:srgbClr val="524F48"/>
                </a:solidFill>
                <a:latin typeface="Segoe UI"/>
              </a:defRPr>
            </a:pPr>
            <a:r>
              <a:t>E leva com ele o que sabia sobre cada miúdo. Nada disso ficou escrito.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199632"/>
            <a:ext cx="103628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50">
                <a:solidFill>
                  <a:srgbClr val="ADA89D"/>
                </a:solidFill>
                <a:latin typeface="Segoe UI"/>
              </a:defRPr>
            </a:pPr>
            <a:r>
              <a:t>Nada disto é falta de vontade. É falta de um sítio.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58368"/>
            <a:ext cx="103628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0F6B62"/>
                </a:solidFill>
                <a:latin typeface="Segoe UI Semibold"/>
              </a:defRPr>
            </a:pPr>
            <a:r>
              <a:t>A IDEIA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24128"/>
            <a:ext cx="932688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1A1917"/>
                </a:solidFill>
                <a:latin typeface="Segoe UI Semibold"/>
              </a:defRPr>
            </a:pPr>
            <a:r>
              <a:t>Uma plataforma. Três portas.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999232"/>
            <a:ext cx="3200400" cy="228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8" y="3310128"/>
            <a:ext cx="2615184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50">
                <a:solidFill>
                  <a:srgbClr val="0F6B62"/>
                </a:solidFill>
                <a:latin typeface="Segoe UI Semibold"/>
              </a:defRPr>
            </a:pPr>
            <a:r>
              <a:t>DIREÇÃO E TREINADORES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2100">
                <a:solidFill>
                  <a:srgbClr val="1A1917"/>
                </a:solidFill>
                <a:latin typeface="Segoe UI Semibold"/>
              </a:defRPr>
            </a:pPr>
            <a:r>
              <a:t>Consola</a:t>
            </a:r>
          </a:p>
          <a:p>
            <a:pPr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defRPr sz="1350">
                <a:solidFill>
                  <a:srgbClr val="524F48"/>
                </a:solidFill>
                <a:latin typeface="Segoe UI"/>
              </a:defRPr>
            </a:pPr>
            <a:r>
              <a:t>Atletas, equipas, calendário,</a:t>
            </a:r>
            <a:br/>
            <a:r>
              <a:t>presenças, mensalidades.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98848" y="2999232"/>
            <a:ext cx="3200400" cy="228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91456" y="3310128"/>
            <a:ext cx="2615184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50">
                <a:solidFill>
                  <a:srgbClr val="0F6B62"/>
                </a:solidFill>
                <a:latin typeface="Segoe UI Semibold"/>
              </a:defRPr>
            </a:pPr>
            <a:r>
              <a:t>PAIS, NO TELEMÓVEL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2100">
                <a:solidFill>
                  <a:srgbClr val="1A1917"/>
                </a:solidFill>
                <a:latin typeface="Segoe UI Semibold"/>
              </a:defRPr>
            </a:pPr>
            <a:r>
              <a:t>App das famílias</a:t>
            </a:r>
          </a:p>
          <a:p>
            <a:pPr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defRPr sz="1350">
                <a:solidFill>
                  <a:srgbClr val="524F48"/>
                </a:solidFill>
                <a:latin typeface="Segoe UI"/>
              </a:defRPr>
            </a:pPr>
            <a:r>
              <a:t>Instalada com o nome e a cor</a:t>
            </a:r>
            <a:br/>
            <a:r>
              <a:t>do clube. Não é um site.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83296" y="2999232"/>
            <a:ext cx="3200400" cy="228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75904" y="3310128"/>
            <a:ext cx="2615184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50">
                <a:solidFill>
                  <a:srgbClr val="0F6B62"/>
                </a:solidFill>
                <a:latin typeface="Segoe UI Semibold"/>
              </a:defRPr>
            </a:pPr>
            <a:r>
              <a:t>QUEM CHEGA DE FORA</a:t>
            </a:r>
          </a:p>
          <a:p>
            <a:pPr>
              <a:spcBef>
                <a:spcPts val="600"/>
              </a:spcBef>
              <a:spcAft>
                <a:spcPts val="0"/>
              </a:spcAft>
              <a:defRPr sz="2100">
                <a:solidFill>
                  <a:srgbClr val="1A1917"/>
                </a:solidFill>
                <a:latin typeface="Segoe UI Semibold"/>
              </a:defRPr>
            </a:pPr>
            <a:r>
              <a:t>Página do clube</a:t>
            </a:r>
          </a:p>
          <a:p>
            <a:pPr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defRPr sz="1350">
                <a:solidFill>
                  <a:srgbClr val="524F48"/>
                </a:solidFill>
                <a:latin typeface="Segoe UI"/>
              </a:defRPr>
            </a:pPr>
            <a:r>
              <a:t>O link que se manda por</a:t>
            </a:r>
            <a:br/>
            <a:r>
              <a:t>WhatsApp — e por onde se entra.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199632"/>
            <a:ext cx="103628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50">
                <a:solidFill>
                  <a:srgbClr val="ADA89D"/>
                </a:solidFill>
                <a:latin typeface="Segoe UI"/>
              </a:defRPr>
            </a:pPr>
            <a:r>
              <a:t>A mesma verdade nos três sítios. Escreve-se uma vez.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58368"/>
            <a:ext cx="103628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0F6B62"/>
                </a:solidFill>
                <a:latin typeface="Segoe UI Semibold"/>
              </a:defRPr>
            </a:pPr>
            <a:r>
              <a:t>A PLATAFORMA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24128"/>
            <a:ext cx="932688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3800">
                <a:solidFill>
                  <a:srgbClr val="1A1917"/>
                </a:solidFill>
                <a:latin typeface="Segoe UI Semibold"/>
              </a:defRPr>
            </a:pPr>
            <a:r>
              <a:t>Tudo o que o clube faz,</a:t>
            </a:r>
            <a:br/>
            <a:r>
              <a:t>num sítio só.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697480"/>
            <a:ext cx="3200400" cy="148132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916936"/>
            <a:ext cx="26517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0F6B62"/>
                </a:solidFill>
                <a:latin typeface="Consolas"/>
              </a:defRPr>
            </a:pPr>
            <a:r>
              <a:t>PESSOAS</a:t>
            </a:r>
          </a:p>
          <a:p>
            <a:pPr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defRPr sz="1450">
                <a:solidFill>
                  <a:srgbClr val="1A1917"/>
                </a:solidFill>
                <a:latin typeface="Segoe UI Semibold"/>
              </a:defRPr>
            </a:pPr>
            <a:r>
              <a:t>Atletas · Famílias · Equipas · Staff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defRPr sz="1150">
                <a:solidFill>
                  <a:srgbClr val="8A867C"/>
                </a:solidFill>
                <a:latin typeface="Segoe UI"/>
              </a:defRPr>
            </a:pPr>
            <a:r>
              <a:t>Fichas, contactos, plantéis por escalão e quem trabalha no clube.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98848" y="2697480"/>
            <a:ext cx="3200400" cy="148132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73168" y="2916936"/>
            <a:ext cx="26517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0F6B62"/>
                </a:solidFill>
                <a:latin typeface="Consolas"/>
              </a:defRPr>
            </a:pPr>
            <a:r>
              <a:t>OPERAÇÃO</a:t>
            </a:r>
          </a:p>
          <a:p>
            <a:pPr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defRPr sz="1450">
                <a:solidFill>
                  <a:srgbClr val="1A1917"/>
                </a:solidFill>
                <a:latin typeface="Segoe UI Semibold"/>
              </a:defRPr>
            </a:pPr>
            <a:r>
              <a:t>Calendário · Presenças · Convocatórias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defRPr sz="1150">
                <a:solidFill>
                  <a:srgbClr val="8A867C"/>
                </a:solidFill>
                <a:latin typeface="Segoe UI"/>
              </a:defRPr>
            </a:pPr>
            <a:r>
              <a:t>Treinos, jogos e eventos. Quem faltou, quem foi chamado.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83296" y="2697480"/>
            <a:ext cx="3200400" cy="148132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57616" y="2916936"/>
            <a:ext cx="26517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0F6B62"/>
                </a:solidFill>
                <a:latin typeface="Consolas"/>
              </a:defRPr>
            </a:pPr>
            <a:r>
              <a:t>GESTÃO</a:t>
            </a:r>
          </a:p>
          <a:p>
            <a:pPr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defRPr sz="1450">
                <a:solidFill>
                  <a:srgbClr val="1A1917"/>
                </a:solidFill>
                <a:latin typeface="Segoe UI Semibold"/>
              </a:defRPr>
            </a:pPr>
            <a:r>
              <a:t>Mensalidades · Comunicação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defRPr sz="1150">
                <a:solidFill>
                  <a:srgbClr val="8A867C"/>
                </a:solidFill>
                <a:latin typeface="Segoe UI"/>
              </a:defRPr>
            </a:pPr>
            <a:r>
              <a:t>Cobrança, dívida real e os avisos que chegam às famílias.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453128"/>
            <a:ext cx="3200400" cy="148132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4672584"/>
            <a:ext cx="26517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0F6B62"/>
                </a:solidFill>
                <a:latin typeface="Consolas"/>
              </a:defRPr>
            </a:pPr>
            <a:r>
              <a:t>DESENVOLVIMENTO</a:t>
            </a:r>
          </a:p>
          <a:p>
            <a:pPr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defRPr sz="1450">
                <a:solidFill>
                  <a:srgbClr val="1A1917"/>
                </a:solidFill>
                <a:latin typeface="Segoe UI Semibold"/>
              </a:defRPr>
            </a:pPr>
            <a:r>
              <a:t>Avaliações · Relatórios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defRPr sz="1150">
                <a:solidFill>
                  <a:srgbClr val="8A867C"/>
                </a:solidFill>
                <a:latin typeface="Segoe UI"/>
              </a:defRPr>
            </a:pPr>
            <a:r>
              <a:t>Competências por modalidade e o que a família recebe.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98848" y="4453128"/>
            <a:ext cx="3200400" cy="148132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73168" y="4672584"/>
            <a:ext cx="26517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0F6B62"/>
                </a:solidFill>
                <a:latin typeface="Consolas"/>
              </a:defRPr>
            </a:pPr>
            <a:r>
              <a:t>CLÍNICO</a:t>
            </a:r>
          </a:p>
          <a:p>
            <a:pPr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defRPr sz="1450">
                <a:solidFill>
                  <a:srgbClr val="1A1917"/>
                </a:solidFill>
                <a:latin typeface="Segoe UI Semibold"/>
              </a:defRPr>
            </a:pPr>
            <a:r>
              <a:t>Boletins · Consultas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defRPr sz="1150">
                <a:solidFill>
                  <a:srgbClr val="8A867C"/>
                </a:solidFill>
                <a:latin typeface="Segoe UI"/>
              </a:defRPr>
            </a:pPr>
            <a:r>
              <a:t>Lesões, altas e disponibilidade — com autor registado.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3296" y="4453128"/>
            <a:ext cx="3200400" cy="148132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7616" y="4672584"/>
            <a:ext cx="26517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0F6B62"/>
                </a:solidFill>
                <a:latin typeface="Consolas"/>
              </a:defRPr>
            </a:pPr>
            <a:r>
              <a:t>SCOUTING</a:t>
            </a:r>
          </a:p>
          <a:p>
            <a:pPr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defRPr sz="1450">
                <a:solidFill>
                  <a:srgbClr val="1A1917"/>
                </a:solidFill>
                <a:latin typeface="Segoe UI Semibold"/>
              </a:defRPr>
            </a:pPr>
            <a:r>
              <a:t>Prospectos · Observações · Vídeo · Pedidos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defRPr sz="1150">
                <a:solidFill>
                  <a:srgbClr val="8A867C"/>
                </a:solidFill>
                <a:latin typeface="Segoe UI"/>
              </a:defRPr>
            </a:pPr>
            <a:r>
              <a:t>Quem se anda a seguir, quem já foi visto, e por quem.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6199632"/>
            <a:ext cx="103628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50">
                <a:solidFill>
                  <a:srgbClr val="ADA89D"/>
                </a:solidFill>
                <a:latin typeface="Segoe UI"/>
              </a:defRPr>
            </a:pPr>
            <a:r>
              <a:t>Um produto só — e cada pessoa vê apenas a parte que lhe diz respeito.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58368"/>
            <a:ext cx="103628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0F6B62"/>
                </a:solidFill>
                <a:latin typeface="Segoe UI Semibold"/>
              </a:defRPr>
            </a:pPr>
            <a:r>
              <a:t>PARA AS FAMÍLIAS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24128"/>
            <a:ext cx="493776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1A1917"/>
                </a:solidFill>
                <a:latin typeface="Segoe UI Semibold"/>
              </a:defRPr>
            </a:pPr>
            <a:r>
              <a:t>O clube no telemóvel</a:t>
            </a:r>
            <a:br/>
            <a:r>
              <a:t>dos pais.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44805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524F48"/>
                </a:solidFill>
                <a:latin typeface="Segoe UI"/>
              </a:defRPr>
            </a:pPr>
            <a:r>
              <a:t>Instalada no ecrã principal, com o emblema e a cor do clube. Treinos, convocatórias e mensalidades — sem ninguém ter de perguntar.</a:t>
            </a:r>
          </a:p>
          <a:p>
            <a:pPr>
              <a:lnSpc>
                <a:spcPct val="140000"/>
              </a:lnSpc>
              <a:spcBef>
                <a:spcPts val="1400"/>
              </a:spcBef>
              <a:spcAft>
                <a:spcPts val="0"/>
              </a:spcAft>
              <a:defRPr sz="1400">
                <a:solidFill>
                  <a:srgbClr val="8A867C"/>
                </a:solidFill>
                <a:latin typeface="Segoe UI"/>
              </a:defRPr>
            </a:pPr>
            <a:r>
              <a:t>Paga-se por MB WAY, Multibanco ou cartão. E só fica pago quando o banco o diz — nunca porque um ecrã disse que sim.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49440" y="1417320"/>
            <a:ext cx="2651760" cy="4572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949440" y="1417320"/>
            <a:ext cx="2651760" cy="1371600"/>
          </a:xfrm>
          <a:prstGeom prst="roundRect">
            <a:avLst>
              <a:gd name="adj" fmla="val 4500"/>
            </a:avLst>
          </a:prstGeom>
          <a:solidFill>
            <a:srgbClr val="0F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0" y="1783080"/>
            <a:ext cx="21031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50">
                <a:solidFill>
                  <a:srgbClr val="D7E8E5"/>
                </a:solidFill>
                <a:latin typeface="Segoe UI Semibold"/>
              </a:defRPr>
            </a:pPr>
            <a:r>
              <a:t>POR PAGAR</a:t>
            </a:r>
          </a:p>
          <a:p>
            <a:pPr>
              <a:spcBef>
                <a:spcPts val="400"/>
              </a:spcBef>
              <a:spcAft>
                <a:spcPts val="0"/>
              </a:spcAft>
              <a:defRPr sz="3000">
                <a:solidFill>
                  <a:srgbClr val="FFFFFF"/>
                </a:solidFill>
                <a:latin typeface="Segoe UI Semibold"/>
              </a:defRPr>
            </a:pPr>
            <a:r>
              <a:t>40,00 €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306324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1A1917"/>
                </a:solidFill>
                <a:latin typeface="Segoe UI Semibold"/>
              </a:defRPr>
            </a:pPr>
            <a:r>
              <a:t>Próximo treino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150">
                <a:solidFill>
                  <a:srgbClr val="8A867C"/>
                </a:solidFill>
                <a:latin typeface="Segoe UI"/>
              </a:defRPr>
            </a:pPr>
            <a:r>
              <a:t>terça, 18:30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60" y="3593592"/>
            <a:ext cx="2103120" cy="9525"/>
          </a:xfrm>
          <a:prstGeom prst="rect">
            <a:avLst/>
          </a:prstGeom>
          <a:solidFill>
            <a:srgbClr val="E5E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0" y="3776472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1A1917"/>
                </a:solidFill>
                <a:latin typeface="Segoe UI Semibold"/>
              </a:defRPr>
            </a:pPr>
            <a:r>
              <a:t>Convocado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150">
                <a:solidFill>
                  <a:srgbClr val="8A867C"/>
                </a:solidFill>
                <a:latin typeface="Segoe UI"/>
              </a:defRPr>
            </a:pPr>
            <a:r>
              <a:t>sábado, 10:00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60" y="4306824"/>
            <a:ext cx="2103120" cy="9525"/>
          </a:xfrm>
          <a:prstGeom prst="rect">
            <a:avLst/>
          </a:prstGeom>
          <a:solidFill>
            <a:srgbClr val="E5E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0" y="4489704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1A1917"/>
                </a:solidFill>
                <a:latin typeface="Segoe UI Semibold"/>
              </a:defRPr>
            </a:pPr>
            <a:r>
              <a:t>Mensalidade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150">
                <a:solidFill>
                  <a:srgbClr val="8A867C"/>
                </a:solidFill>
                <a:latin typeface="Segoe UI"/>
              </a:defRPr>
            </a:pPr>
            <a:r>
              <a:t>agosto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21240" y="2377440"/>
            <a:ext cx="1965960" cy="1371600"/>
          </a:xfrm>
          <a:prstGeom prst="roundRect">
            <a:avLst>
              <a:gd name="adj" fmla="val 4500"/>
            </a:avLst>
          </a:prstGeom>
          <a:solidFill>
            <a:srgbClr val="E7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149840" y="2651760"/>
            <a:ext cx="1554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350">
                <a:solidFill>
                  <a:srgbClr val="0F6B62"/>
                </a:solidFill>
                <a:latin typeface="Segoe UI Semibold"/>
              </a:defRPr>
            </a:pPr>
            <a:r>
              <a:t>É a app do teu clube.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defRPr sz="1350">
                <a:solidFill>
                  <a:srgbClr val="0F6B62"/>
                </a:solidFill>
                <a:latin typeface="Segoe UI"/>
              </a:defRPr>
            </a:pPr>
            <a:r>
              <a:t>Não a nossa.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58368"/>
            <a:ext cx="103628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0F6B62"/>
                </a:solidFill>
                <a:latin typeface="Segoe UI Semibold"/>
              </a:defRPr>
            </a:pPr>
            <a:r>
              <a:t>SCOUTING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24128"/>
            <a:ext cx="932688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1A1917"/>
                </a:solidFill>
                <a:latin typeface="Segoe UI Semibold"/>
              </a:defRPr>
            </a:pPr>
            <a:r>
              <a:t>Encontrar antes dos outros —</a:t>
            </a:r>
            <a:br/>
            <a:r>
              <a:t>e saber porquê.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017520"/>
            <a:ext cx="1874519" cy="658368"/>
          </a:xfrm>
          <a:prstGeom prst="roundRect">
            <a:avLst>
              <a:gd name="adj" fmla="val 4500"/>
            </a:avLst>
          </a:prstGeom>
          <a:solidFill>
            <a:srgbClr val="C8D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>
                <a:solidFill>
                  <a:srgbClr val="1A1917"/>
                </a:solidFill>
                <a:latin typeface="Segoe UI Semibold"/>
              </a:defRPr>
            </a:pPr>
            <a:r>
              <a:t>Descoberto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08375" y="3017520"/>
            <a:ext cx="1874519" cy="658368"/>
          </a:xfrm>
          <a:prstGeom prst="roundRect">
            <a:avLst>
              <a:gd name="adj" fmla="val 4500"/>
            </a:avLst>
          </a:prstGeom>
          <a:solidFill>
            <a:srgbClr val="B4D1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>
                <a:solidFill>
                  <a:srgbClr val="1A1917"/>
                </a:solidFill>
                <a:latin typeface="Segoe UI Semibold"/>
              </a:defRPr>
            </a:pPr>
            <a:r>
              <a:t>A acompanhar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02350" y="3017520"/>
            <a:ext cx="1874519" cy="658368"/>
          </a:xfrm>
          <a:prstGeom prst="roundRect">
            <a:avLst>
              <a:gd name="adj" fmla="val 4500"/>
            </a:avLst>
          </a:prstGeom>
          <a:solidFill>
            <a:srgbClr val="A0C3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>
                <a:solidFill>
                  <a:srgbClr val="1A1917"/>
                </a:solidFill>
                <a:latin typeface="Segoe UI Semibold"/>
              </a:defRPr>
            </a:pPr>
            <a:r>
              <a:t>Observado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96325" y="3017520"/>
            <a:ext cx="1874519" cy="658368"/>
          </a:xfrm>
          <a:prstGeom prst="roundRect">
            <a:avLst>
              <a:gd name="adj" fmla="val 4500"/>
            </a:avLst>
          </a:prstGeom>
          <a:solidFill>
            <a:srgbClr val="8CB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>
                <a:solidFill>
                  <a:srgbClr val="1A1917"/>
                </a:solidFill>
                <a:latin typeface="Segoe UI Semibold"/>
              </a:defRPr>
            </a:pPr>
            <a:r>
              <a:t>Trial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90300" y="3017520"/>
            <a:ext cx="1874519" cy="658368"/>
          </a:xfrm>
          <a:prstGeom prst="roundRect">
            <a:avLst>
              <a:gd name="adj" fmla="val 4500"/>
            </a:avLst>
          </a:prstGeom>
          <a:solidFill>
            <a:srgbClr val="78A7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>
                <a:solidFill>
                  <a:srgbClr val="1A1917"/>
                </a:solidFill>
                <a:latin typeface="Segoe UI Semibold"/>
              </a:defRPr>
            </a:pPr>
            <a:r>
              <a:t>Recrutado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60520"/>
            <a:ext cx="32004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>
                <a:solidFill>
                  <a:srgbClr val="1A1917"/>
                </a:solidFill>
                <a:latin typeface="Segoe UI Semibold"/>
              </a:defRPr>
            </a:pPr>
            <a:r>
              <a:t>Observações, não uma nota</a:t>
            </a:r>
          </a:p>
          <a:p>
            <a:pPr>
              <a:lnSpc>
                <a:spcPct val="135000"/>
              </a:lnSpc>
              <a:spcBef>
                <a:spcPts val="700"/>
              </a:spcBef>
              <a:spcAft>
                <a:spcPts val="0"/>
              </a:spcAft>
              <a:defRPr sz="1350">
                <a:solidFill>
                  <a:srgbClr val="524F48"/>
                </a:solidFill>
                <a:latin typeface="Segoe UI"/>
              </a:defRPr>
            </a:pPr>
            <a:r>
              <a:t>Cada ida ao campo fica escrita, com quem foi e o que viu. A segunda pode contradizer a primeira.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8848" y="4160520"/>
            <a:ext cx="32004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>
                <a:solidFill>
                  <a:srgbClr val="1A1917"/>
                </a:solidFill>
                <a:latin typeface="Segoe UI Semibold"/>
              </a:defRPr>
            </a:pPr>
            <a:r>
              <a:t>Vídeo com momentos</a:t>
            </a:r>
          </a:p>
          <a:p>
            <a:pPr>
              <a:lnSpc>
                <a:spcPct val="135000"/>
              </a:lnSpc>
              <a:spcBef>
                <a:spcPts val="700"/>
              </a:spcBef>
              <a:spcAft>
                <a:spcPts val="0"/>
              </a:spcAft>
              <a:defRPr sz="1350">
                <a:solidFill>
                  <a:srgbClr val="524F48"/>
                </a:solidFill>
                <a:latin typeface="Segoe UI"/>
              </a:defRPr>
            </a:pPr>
            <a:r>
              <a:t>00:42 — excelente passe vertical. É isso que se manda ao director, não noventa minutos.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83296" y="4160520"/>
            <a:ext cx="32004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>
                <a:solidFill>
                  <a:srgbClr val="1A1917"/>
                </a:solidFill>
                <a:latin typeface="Segoe UI Semibold"/>
              </a:defRPr>
            </a:pPr>
            <a:r>
              <a:t>O treinador pede</a:t>
            </a:r>
          </a:p>
          <a:p>
            <a:pPr>
              <a:lnSpc>
                <a:spcPct val="135000"/>
              </a:lnSpc>
              <a:spcBef>
                <a:spcPts val="700"/>
              </a:spcBef>
              <a:spcAft>
                <a:spcPts val="0"/>
              </a:spcAft>
              <a:defRPr sz="1350">
                <a:solidFill>
                  <a:srgbClr val="524F48"/>
                </a:solidFill>
                <a:latin typeface="Segoe UI"/>
              </a:defRPr>
            </a:pPr>
            <a:r>
              <a:t>“Falta-me um lateral esquerdo no Sub-15.” O scouting responde com nomes, dentro do pedido.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199632"/>
            <a:ext cx="103628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50">
                <a:solidFill>
                  <a:srgbClr val="ADA89D"/>
                </a:solidFill>
                <a:latin typeface="Segoe UI"/>
              </a:defRPr>
            </a:pPr>
            <a:r>
              <a:t>E quando o clube decide, o prospecto vira atleta sem se reescrever um único campo.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58368"/>
            <a:ext cx="103628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0F6B62"/>
                </a:solidFill>
                <a:latin typeface="Segoe UI Semibold"/>
              </a:defRPr>
            </a:pPr>
            <a:r>
              <a:t>QUEM VÊ O QUÊ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24128"/>
            <a:ext cx="932688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1A1917"/>
                </a:solidFill>
                <a:latin typeface="Segoe UI Semibold"/>
              </a:defRPr>
            </a:pPr>
            <a:r>
              <a:t>Cada um vê o que é seu.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06040"/>
            <a:ext cx="56692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524F48"/>
                </a:solidFill>
                <a:latin typeface="Segoe UI"/>
              </a:defRPr>
            </a:pPr>
            <a:r>
              <a:t>O clube cria os seus próprios papéis e decide, sem código, o que cada um pode fazer e que menus vê.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069080"/>
            <a:ext cx="1975104" cy="1371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2144" y="4325112"/>
            <a:ext cx="1554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50">
                <a:solidFill>
                  <a:srgbClr val="1A1917"/>
                </a:solidFill>
                <a:latin typeface="Segoe UI Semibold"/>
              </a:defRPr>
            </a:pPr>
            <a:r>
              <a:t>Presidente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defRPr sz="1150">
                <a:solidFill>
                  <a:srgbClr val="8A867C"/>
                </a:solidFill>
                <a:latin typeface="Segoe UI"/>
              </a:defRPr>
            </a:pPr>
            <a:r>
              <a:t>Responde por tudo.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26664" y="4069080"/>
            <a:ext cx="1975104" cy="1371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64408" y="4325112"/>
            <a:ext cx="1554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50">
                <a:solidFill>
                  <a:srgbClr val="1A1917"/>
                </a:solidFill>
                <a:latin typeface="Segoe UI Semibold"/>
              </a:defRPr>
            </a:pPr>
            <a:r>
              <a:t>Direção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defRPr sz="1150">
                <a:solidFill>
                  <a:srgbClr val="8A867C"/>
                </a:solidFill>
                <a:latin typeface="Segoe UI"/>
              </a:defRPr>
            </a:pPr>
            <a:r>
              <a:t>A academia inteira.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38928" y="4069080"/>
            <a:ext cx="1975104" cy="1371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76672" y="4325112"/>
            <a:ext cx="1554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50">
                <a:solidFill>
                  <a:srgbClr val="1A1917"/>
                </a:solidFill>
                <a:latin typeface="Segoe UI Semibold"/>
              </a:defRPr>
            </a:pPr>
            <a:r>
              <a:t>Treinador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defRPr sz="1150">
                <a:solidFill>
                  <a:srgbClr val="8A867C"/>
                </a:solidFill>
                <a:latin typeface="Segoe UI"/>
              </a:defRPr>
            </a:pPr>
            <a:r>
              <a:t>Só as suas equipas.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51192" y="4069080"/>
            <a:ext cx="1975104" cy="1371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88936" y="4325112"/>
            <a:ext cx="1554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50">
                <a:solidFill>
                  <a:srgbClr val="1A1917"/>
                </a:solidFill>
                <a:latin typeface="Segoe UI Semibold"/>
              </a:defRPr>
            </a:pPr>
            <a:r>
              <a:t>Dep. Médico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defRPr sz="1150">
                <a:solidFill>
                  <a:srgbClr val="8A867C"/>
                </a:solidFill>
                <a:latin typeface="Segoe UI"/>
              </a:defRPr>
            </a:pPr>
            <a:r>
              <a:t>O boletim — e mais nada.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63456" y="4069080"/>
            <a:ext cx="1975104" cy="1371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0" y="4325112"/>
            <a:ext cx="1554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50">
                <a:solidFill>
                  <a:srgbClr val="1A1917"/>
                </a:solidFill>
                <a:latin typeface="Segoe UI Semibold"/>
              </a:defRPr>
            </a:pPr>
            <a:r>
              <a:t>Dep. Scouting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defRPr sz="1150">
                <a:solidFill>
                  <a:srgbClr val="8A867C"/>
                </a:solidFill>
                <a:latin typeface="Segoe UI"/>
              </a:defRPr>
            </a:pPr>
            <a:r>
              <a:t>Prospectos e vídeo.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6199632"/>
            <a:ext cx="103628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50">
                <a:solidFill>
                  <a:srgbClr val="ADA89D"/>
                </a:solidFill>
                <a:latin typeface="Segoe UI"/>
              </a:defRPr>
            </a:pPr>
            <a:r>
              <a:t>Dados de saúde têm permissão própria. Quem escreveu um diagnóstico fica sempre registado.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58368"/>
            <a:ext cx="103628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0F6B62"/>
                </a:solidFill>
                <a:latin typeface="Segoe UI Semibold"/>
              </a:defRPr>
            </a:pPr>
            <a:r>
              <a:t>COMO FOI CONSTRUÍDO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24128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1A1917"/>
                </a:solidFill>
                <a:latin typeface="Segoe UI Semibold"/>
              </a:defRPr>
            </a:pPr>
            <a:r>
              <a:t>Sem futebol escrito</a:t>
            </a:r>
            <a:br/>
            <a:r>
              <a:t>no código.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54680"/>
            <a:ext cx="45720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524F48"/>
                </a:solidFill>
                <a:latin typeface="Segoe UI"/>
              </a:defRPr>
            </a:pPr>
            <a:r>
              <a:t>Posições, competências e critérios de avaliação são configuração da modalidade. Uma escola de natação abre sem posições — e a interface adapta-se por ausência.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0" y="1828800"/>
            <a:ext cx="4965192" cy="9525"/>
          </a:xfrm>
          <a:prstGeom prst="rect">
            <a:avLst/>
          </a:prstGeom>
          <a:solidFill>
            <a:srgbClr val="E5E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09360" y="2029968"/>
            <a:ext cx="496519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>
                <a:solidFill>
                  <a:srgbClr val="1A1917"/>
                </a:solidFill>
                <a:latin typeface="Segoe UI Semibold"/>
              </a:defRPr>
            </a:pPr>
            <a:r>
              <a:t>Isolamento entre clubes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  <a:defRPr sz="1350">
                <a:solidFill>
                  <a:srgbClr val="524F48"/>
                </a:solidFill>
                <a:latin typeface="Segoe UI"/>
              </a:defRPr>
            </a:pPr>
            <a:r>
              <a:t>Nenhum clube alcança os dados de outro. Verificado com ataques reais, não com boa vontade.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3291840"/>
            <a:ext cx="4965192" cy="9525"/>
          </a:xfrm>
          <a:prstGeom prst="rect">
            <a:avLst/>
          </a:prstGeom>
          <a:solidFill>
            <a:srgbClr val="E5E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3493008"/>
            <a:ext cx="496519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>
                <a:solidFill>
                  <a:srgbClr val="1A1917"/>
                </a:solidFill>
                <a:latin typeface="Segoe UI Semibold"/>
              </a:defRPr>
            </a:pPr>
            <a:r>
              <a:t>O pagamento é do banco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  <a:defRPr sz="1350">
                <a:solidFill>
                  <a:srgbClr val="524F48"/>
                </a:solidFill>
                <a:latin typeface="Segoe UI"/>
              </a:defRPr>
            </a:pPr>
            <a:r>
              <a:t>Nada no telemóvel decide que algo foi pago. Só a confirmação do banco muda o estado.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4754880"/>
            <a:ext cx="4965192" cy="9525"/>
          </a:xfrm>
          <a:prstGeom prst="rect">
            <a:avLst/>
          </a:prstGeom>
          <a:solidFill>
            <a:srgbClr val="E5E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4956048"/>
            <a:ext cx="496519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700">
                <a:solidFill>
                  <a:srgbClr val="1A1917"/>
                </a:solidFill>
                <a:latin typeface="Segoe UI Semibold"/>
              </a:defRPr>
            </a:pPr>
            <a:r>
              <a:t>RGPD a sério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  <a:defRPr sz="1350">
                <a:solidFill>
                  <a:srgbClr val="524F48"/>
                </a:solidFill>
                <a:latin typeface="Segoe UI"/>
              </a:defRPr>
            </a:pPr>
            <a:r>
              <a:t>Dados de saúde e imagem de menores com permissões próprias e autor registado.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58368"/>
            <a:ext cx="103628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0F6B62"/>
                </a:solidFill>
                <a:latin typeface="Segoe UI Semibold"/>
              </a:defRPr>
            </a:pPr>
            <a:r>
              <a:t>O QUE VEM A SEGUIR  ·  1 DE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24128"/>
            <a:ext cx="932688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1A1917"/>
                </a:solidFill>
                <a:latin typeface="Segoe UI Semibold"/>
              </a:defRPr>
            </a:pPr>
            <a:r>
              <a:t>Curto prazo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606040"/>
            <a:ext cx="5029200" cy="2834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98448" y="2926080"/>
            <a:ext cx="4261104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50">
                <a:solidFill>
                  <a:srgbClr val="0F6B62"/>
                </a:solidFill>
                <a:latin typeface="Consolas"/>
              </a:defRPr>
            </a:pPr>
            <a:r>
              <a:t>ZEROZERO  ·  FPF</a:t>
            </a:r>
          </a:p>
          <a:p>
            <a:pPr>
              <a:spcBef>
                <a:spcPts val="1000"/>
              </a:spcBef>
              <a:spcAft>
                <a:spcPts val="0"/>
              </a:spcAft>
              <a:defRPr sz="2500">
                <a:solidFill>
                  <a:srgbClr val="1A1917"/>
                </a:solidFill>
                <a:latin typeface="Segoe UI Semibold"/>
              </a:defRPr>
            </a:pPr>
            <a:r>
              <a:t>Ligar o clube às federações</a:t>
            </a:r>
          </a:p>
          <a:p>
            <a:pPr>
              <a:lnSpc>
                <a:spcPct val="145000"/>
              </a:lnSpc>
              <a:spcBef>
                <a:spcPts val="1200"/>
              </a:spcBef>
              <a:spcAft>
                <a:spcPts val="0"/>
              </a:spcAft>
              <a:defRPr sz="1450">
                <a:solidFill>
                  <a:srgbClr val="524F48"/>
                </a:solidFill>
                <a:latin typeface="Segoe UI"/>
              </a:defRPr>
            </a:pPr>
            <a:r>
              <a:t>Jogos, estatísticas e fichas de atleta a entrarem sozinhos. Deixa de haver quem copie à mão o que já existe noutro sítio — e deixa de haver duas versões da mesma verdade.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5352" y="2606040"/>
            <a:ext cx="5029200" cy="2834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29400" y="2926080"/>
            <a:ext cx="4261104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50">
                <a:solidFill>
                  <a:srgbClr val="0F6B62"/>
                </a:solidFill>
                <a:latin typeface="Consolas"/>
              </a:defRPr>
            </a:pPr>
            <a:r>
              <a:t>SÓCIOS</a:t>
            </a:r>
          </a:p>
          <a:p>
            <a:pPr>
              <a:spcBef>
                <a:spcPts val="1000"/>
              </a:spcBef>
              <a:spcAft>
                <a:spcPts val="0"/>
              </a:spcAft>
              <a:defRPr sz="2500">
                <a:solidFill>
                  <a:srgbClr val="1A1917"/>
                </a:solidFill>
                <a:latin typeface="Segoe UI Semibold"/>
              </a:defRPr>
            </a:pPr>
            <a:r>
              <a:t>Gestão de sócios</a:t>
            </a:r>
          </a:p>
          <a:p>
            <a:pPr>
              <a:lnSpc>
                <a:spcPct val="145000"/>
              </a:lnSpc>
              <a:spcBef>
                <a:spcPts val="1200"/>
              </a:spcBef>
              <a:spcAft>
                <a:spcPts val="0"/>
              </a:spcAft>
              <a:defRPr sz="1450">
                <a:solidFill>
                  <a:srgbClr val="524F48"/>
                </a:solidFill>
                <a:latin typeface="Segoe UI"/>
              </a:defRPr>
            </a:pPr>
            <a:r>
              <a:t>Quotas, cartões e assembleias no mesmo sítio dos atletas. Um clube não é só a formação: é também quem paga a quota há trinta anos e nunca aparece numa folha.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199632"/>
            <a:ext cx="103628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50">
                <a:solidFill>
                  <a:srgbClr val="ADA89D"/>
                </a:solidFill>
                <a:latin typeface="Segoe UI"/>
              </a:defRPr>
            </a:pPr>
            <a:r>
              <a:t>Menos digitação. Menos discussões sobre qual é o número certo.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9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58368"/>
            <a:ext cx="103628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56B3A6"/>
                </a:solidFill>
                <a:latin typeface="Segoe UI Semibold"/>
              </a:defRPr>
            </a:pPr>
            <a:r>
              <a:t>O QUE VEM A SEGUIR  ·  2 DE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24128"/>
            <a:ext cx="932688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Segoe UI Semibold"/>
              </a:defRPr>
            </a:pPr>
            <a:r>
              <a:t>Médio e longo prazo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680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C9C4B8"/>
                </a:solidFill>
                <a:latin typeface="Segoe UI"/>
              </a:defRPr>
            </a:pPr>
            <a:r>
              <a:t>Inteligência artificial onde há muito para ler e pouco tempo para o fazer.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383280"/>
            <a:ext cx="3200400" cy="19050"/>
          </a:xfrm>
          <a:prstGeom prst="rect">
            <a:avLst/>
          </a:prstGeom>
          <a:solidFill>
            <a:srgbClr val="56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39312"/>
            <a:ext cx="32004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900">
                <a:solidFill>
                  <a:srgbClr val="FFFFFF"/>
                </a:solidFill>
                <a:latin typeface="Segoe UI Semibold"/>
              </a:defRPr>
            </a:pPr>
            <a:r>
              <a:t>No scouting</a:t>
            </a:r>
          </a:p>
          <a:p>
            <a:pPr>
              <a:lnSpc>
                <a:spcPct val="140000"/>
              </a:lnSpc>
              <a:spcBef>
                <a:spcPts val="900"/>
              </a:spcBef>
              <a:spcAft>
                <a:spcPts val="0"/>
              </a:spcAft>
              <a:defRPr sz="1400">
                <a:solidFill>
                  <a:srgbClr val="A9A498"/>
                </a:solidFill>
                <a:latin typeface="Segoe UI"/>
              </a:defRPr>
            </a:pPr>
            <a:r>
              <a:t>Resumir dez observações de um miúdo em três linhas — e sugerir o que falta perguntar na próxima ida ao campo.</a:t>
            </a:r>
          </a:p>
        </p:txBody>
      </p:sp>
      <p:sp>
        <p:nvSpPr>
          <p:cNvPr id="7" name="Rectangle 6"/>
          <p:cNvSpPr/>
          <p:nvPr/>
        </p:nvSpPr>
        <p:spPr>
          <a:xfrm>
            <a:off x="4498848" y="3383280"/>
            <a:ext cx="3200400" cy="19050"/>
          </a:xfrm>
          <a:prstGeom prst="rect">
            <a:avLst/>
          </a:prstGeom>
          <a:solidFill>
            <a:srgbClr val="56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8848" y="3639312"/>
            <a:ext cx="32004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900">
                <a:solidFill>
                  <a:srgbClr val="FFFFFF"/>
                </a:solidFill>
                <a:latin typeface="Segoe UI Semibold"/>
              </a:defRPr>
            </a:pPr>
            <a:r>
              <a:t>Na avaliação dos jogos</a:t>
            </a:r>
          </a:p>
          <a:p>
            <a:pPr>
              <a:lnSpc>
                <a:spcPct val="140000"/>
              </a:lnSpc>
              <a:spcBef>
                <a:spcPts val="900"/>
              </a:spcBef>
              <a:spcAft>
                <a:spcPts val="0"/>
              </a:spcAft>
              <a:defRPr sz="1400">
                <a:solidFill>
                  <a:srgbClr val="A9A498"/>
                </a:solidFill>
                <a:latin typeface="Segoe UI"/>
              </a:defRPr>
            </a:pPr>
            <a:r>
              <a:t>Ler o que aconteceu à equipa ao longo de uma época e mostrar os padrões que ninguém tem tempo de procurar.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83296" y="3383280"/>
            <a:ext cx="3200400" cy="19050"/>
          </a:xfrm>
          <a:prstGeom prst="rect">
            <a:avLst/>
          </a:prstGeom>
          <a:solidFill>
            <a:srgbClr val="56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83296" y="3639312"/>
            <a:ext cx="32004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900">
                <a:solidFill>
                  <a:srgbClr val="FFFFFF"/>
                </a:solidFill>
                <a:latin typeface="Segoe UI Semibold"/>
              </a:defRPr>
            </a:pPr>
            <a:r>
              <a:t>Na avaliação dos atletas</a:t>
            </a:r>
          </a:p>
          <a:p>
            <a:pPr>
              <a:lnSpc>
                <a:spcPct val="140000"/>
              </a:lnSpc>
              <a:spcBef>
                <a:spcPts val="900"/>
              </a:spcBef>
              <a:spcAft>
                <a:spcPts val="0"/>
              </a:spcAft>
              <a:defRPr sz="1400">
                <a:solidFill>
                  <a:srgbClr val="A9A498"/>
                </a:solidFill>
                <a:latin typeface="Segoe UI"/>
              </a:defRPr>
            </a:pPr>
            <a:r>
              <a:t>Cruzar presenças, minutos e notas dos treinadores para dar ao clube uma leitura da evolução de cada um.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5577840"/>
            <a:ext cx="10362895" cy="713232"/>
          </a:xfrm>
          <a:prstGeom prst="roundRect">
            <a:avLst>
              <a:gd name="adj" fmla="val 4500"/>
            </a:avLst>
          </a:prstGeom>
          <a:solidFill>
            <a:srgbClr val="242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5779008"/>
            <a:ext cx="9509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>
                <a:solidFill>
                  <a:srgbClr val="8FD3C8"/>
                </a:solidFill>
                <a:latin typeface="Segoe UI Semibold"/>
              </a:defRPr>
            </a:pPr>
            <a:r>
              <a:t>A inteligência artificial sugere e resume. Quem decide recrutar, dispensar ou promover é sempre o clube.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877824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4200">
                <a:solidFill>
                  <a:srgbClr val="1A1917"/>
                </a:solidFill>
                <a:latin typeface="Segoe UI Semibold"/>
              </a:defRPr>
            </a:pPr>
            <a:r>
              <a:t>Feito para clubes</a:t>
            </a:r>
            <a:br/>
            <a:r>
              <a:t>que querem ser sérios</a:t>
            </a:r>
            <a:br/>
            <a:r>
              <a:t>sem deixar de ser clubes.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4892040"/>
            <a:ext cx="2011680" cy="19050"/>
          </a:xfrm>
          <a:prstGeom prst="rect">
            <a:avLst/>
          </a:prstGeom>
          <a:solidFill>
            <a:srgbClr val="0F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212080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000">
                <a:solidFill>
                  <a:srgbClr val="524F48"/>
                </a:solidFill>
                <a:latin typeface="Segoe UI"/>
              </a:defRPr>
            </a:pPr>
            <a:r>
              <a:t>Vamos ver a funcionar com os dados do teu clube?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